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Thanks for having me — I want to walk through this the way you'd actually want to hear it: what I believe, how the system reflects that belief, the two or three decisions that mattered most, and what I'd change next. Then I'm happy to go anywhere you want to dig 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core belief is that a support agent earns trust one verified fact at a time, and loses it instantly the moment it states something wrong with confidence. So I built Bookly's agent around one rule that governs everything else: never guess, always check. Concretely, that means two things. First, if the agent doesn't have enough information to act — say, no order number — it asks one clear question instead of assuming. Second, once it does have enough information, the actual answer always comes from a real system — the order database, the catalog, the policy doc — never generated from the model's own memory. You'll see this rule show up three separate times today: in how the agent clarifies before acting, in how it fetches facts instead of inventing them, and in how it verifies identity before anything risky, like a refund.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walk one message through the system, because the flow matters more than any single component. A customer types 'Where's my order?' That reaches the orchestrator — the piece of code that runs the whole loop. The orchestrator hands the message, plus the conversation memory so far, plus a system prompt describing the house rules, to the language model. The model's only job at that point is to decide: do I have enough information to act, or do I need to ask something? Here it doesn't have an order ID, so it asks for one — that's the clarify step. The customer replies 'ORD-1001'. Memory now has that slot filled, so on the next turn the model decides it has enough to act, and it calls a tool — lookup_order — which is the only thing allowed to touch the real order data. That tool comes back with a real UPS tracking number and delivery estimate, and the model turns that into a normal sentence. Four pieces, one loop: orchestrator runs it, memory remembers what's been collected, the prompt sets the rules, and tools are the only door to real facts.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define these plainly: the orchestrator is the loop itself — maybe 350 lines I can walk through line by line, no framework hiding what's happening. Tools are the agent's hands — the only code path that ever touches real order data, inventory, or policy text, which is exactly what makes hallucination structurally hard, not just discouraged by a prompt. Memory is short-term working notes — it's what lets a refund conversation collect an order ID, a reason, and an email across three separate turns without re-asking anything the customer already said. And the prompt is the house rules — one shared instruction set that tells the model to clarify before acting and to always prefer a tool over a guess, rather than writing a different prompt for every single intent.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decision I'd defend hardest is splitting the system into a 'brain' and 'hands.' The model — the brain — only ever decides what to do next. It never gets to answer a factual question directly. The tools — the hands — are the only code path allowed to touch real data, and there are eight of them, each doing exactly one job. What I traded off is real: every new thing the agent can do requires me to write and register a new tool, which is slower than just letting the model freehand an answer. But I think that trade is obviously worth it here, because the failure mode on the other side isn't cosmetic — a wrong tracking number or a wrong refund amount is a real incident, not an awkward sentence. I'd rather spend the extra engineering time than ship a system that can sound confident and be wrong.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decision was how to handle a customer who doesn't give you everything up front, which is the normal case, not the edge case. I gave the agent a small memory of what it's already asked for and what it's still waiting on. If something's missing, it asks exactly one focused question instead of guessing or dumping every question at once. And critically, once the agent is mid-flow — say, it just asked for an email during a refund — the next thing the customer types gets interpreted as the answer to that question first, before the system tries to re-guess their intent from scratch. That fixed a real bug I hit early on, where a reply could accidentally get reinterpreted as a brand-new request and restart the flow. The trade-off is that this is a purpose-built tracker, not a general dialogue-management framework — that's fine at eight well-scoped intents, and I'd say so plainly if this needed to grow to hundreds.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decision is specifically about refunds, because that's the riskiest action in the system — wrong person, wrong order, wrong amount. I split 'prove who you are' from 'is this specific request allowed' into two separate checks. First the agent verifies the customer's email matches the order on file. Only if that passes does it even attempt the refund — and the refund tool then separately checks whether the order is actually eligible, for example whether the return window already closed. Those are genuinely different questions with different correct responses, so I didn't want them collapsed into one fuzzy 'refund denied' message. The honest trade-off is friction — a real customer answers three or four questions before anything happens, and a less careful bot would feel snappier. I think that's the right trade for money leaving the business, and I can show it live: one refund that succeeds, and one where identity passes but the return window has already expired — two different correct outcomes, not one confusing error.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I had one more week, the first thing I'd change is how the agent decides to escalate. Right now, handoff to a human only triggers when the customer explicitly asks for one — which is safe, but it's reactive. It misses the case where the agent itself is struggling — say, a tool keeps failing, or the customer is rephrasing the same question because nothing's landing — and the customer hasn't thought to ask for a person yet. I think that's actually the same principle as everything else I've shown you, just pointed inward: I built the agent to never guess about a fact, but I haven't yet built it to be honest about its own uncertainty. I didn't ship that here because a real confidence signal deserves more rigor than I could responsibly build in a take-home — it's easy to fake, and I didn't want to fake it. After that, in order, I'd replace email-match verification with real session or OTP-based authentication, extend the eval suite to actually test the AI conversation path instead of only the deterministic fallback, and swap the JSON data files for live order-management and inventory integrations — which the tool-based architecture is specifically designed to make a non-event, since the agent never needs to know where its data actually comes from.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to bring it back to the start: I believe a support agent's whole job is to be trustworthy on facts and honest about what it doesn't know yet, and every architectural choice I walked through today is that belief showing up as code — clarify before acting, get facts from real systems, verify before anything risky, and be honest with myself about what I'd still change. I'd rather go deep on a handful of flows I can fully defend than wide across a dozen I can't. Happy to open up the code, run the live demo, or go deeper on any single decision from 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TextBox 1"/>
          <p:cNvSpPr txBox="1"/>
          <p:nvPr/>
        </p:nvSpPr>
        <p:spPr>
          <a:xfrm>
            <a:off x="731520" y="457200"/>
            <a:ext cx="10058400" cy="457200"/>
          </a:xfrm>
          <a:prstGeom prst="rect">
            <a:avLst/>
          </a:prstGeom>
          <a:noFill/>
        </p:spPr>
        <p:txBody>
          <a:bodyPr wrap="square">
            <a:spAutoFit/>
          </a:bodyPr>
          <a:lstStyle/>
          <a:p>
            <a:pPr algn="l">
              <a:defRPr sz="1400" b="1">
                <a:solidFill>
                  <a:srgbClr val="4F8CFF"/>
                </a:solidFill>
              </a:defRPr>
            </a:pPr>
            <a:r>
              <a:t>BOOKLY CUSTOMER SUPPORT AGENT</a:t>
            </a:r>
          </a:p>
        </p:txBody>
      </p:sp>
      <p:sp>
        <p:nvSpPr>
          <p:cNvPr id="3" name="TextBox 2"/>
          <p:cNvSpPr txBox="1"/>
          <p:nvPr/>
        </p:nvSpPr>
        <p:spPr>
          <a:xfrm>
            <a:off x="731520" y="1188720"/>
            <a:ext cx="10515600" cy="1280160"/>
          </a:xfrm>
          <a:prstGeom prst="rect">
            <a:avLst/>
          </a:prstGeom>
          <a:noFill/>
        </p:spPr>
        <p:txBody>
          <a:bodyPr wrap="square">
            <a:spAutoFit/>
          </a:bodyPr>
          <a:lstStyle/>
          <a:p>
            <a:pPr algn="l">
              <a:defRPr sz="4000" b="1">
                <a:solidFill>
                  <a:srgbClr val="E8EDF4"/>
                </a:solidFill>
              </a:defRPr>
            </a:pPr>
            <a:r>
              <a:t>Architecture &amp; Design Decisions</a:t>
            </a:r>
          </a:p>
        </p:txBody>
      </p:sp>
      <p:sp>
        <p:nvSpPr>
          <p:cNvPr id="4" name="TextBox 3"/>
          <p:cNvSpPr txBox="1"/>
          <p:nvPr/>
        </p:nvSpPr>
        <p:spPr>
          <a:xfrm>
            <a:off x="731520" y="2651760"/>
            <a:ext cx="9601200" cy="2377440"/>
          </a:xfrm>
          <a:prstGeom prst="rect">
            <a:avLst/>
          </a:prstGeom>
          <a:noFill/>
        </p:spPr>
        <p:txBody>
          <a:bodyPr wrap="square">
            <a:spAutoFit/>
          </a:bodyPr>
          <a:lstStyle/>
          <a:p>
            <a:pPr algn="l">
              <a:spcAft>
                <a:spcPts val="800"/>
              </a:spcAft>
              <a:defRPr sz="1900" b="0">
                <a:solidFill>
                  <a:srgbClr val="E8EDF4"/>
                </a:solidFill>
              </a:defRPr>
            </a:pPr>
            <a:r>
              <a:t>1.  The thesis — what a great CX agent believes about itself</a:t>
            </a:r>
          </a:p>
          <a:p>
            <a:pPr>
              <a:spcAft>
                <a:spcPts val="800"/>
              </a:spcAft>
              <a:defRPr sz="1900">
                <a:solidFill>
                  <a:srgbClr val="E8EDF4"/>
                </a:solidFill>
              </a:defRPr>
            </a:pPr>
            <a:r>
              <a:t>2.  Architecture — how one inquiry flows through the system</a:t>
            </a:r>
          </a:p>
          <a:p>
            <a:pPr>
              <a:spcAft>
                <a:spcPts val="800"/>
              </a:spcAft>
              <a:defRPr sz="1900">
                <a:solidFill>
                  <a:srgbClr val="E8EDF4"/>
                </a:solidFill>
              </a:defRPr>
            </a:pPr>
            <a:r>
              <a:t>3.  Key decisions — what I chose, what I traded off, why it was worth it</a:t>
            </a:r>
          </a:p>
          <a:p>
            <a:pPr>
              <a:spcAft>
                <a:spcPts val="800"/>
              </a:spcAft>
              <a:defRPr sz="1900">
                <a:solidFill>
                  <a:srgbClr val="E8EDF4"/>
                </a:solidFill>
              </a:defRPr>
            </a:pPr>
            <a:r>
              <a:t>4.  What I'd change — the first thing, given more time</a:t>
            </a:r>
          </a:p>
        </p:txBody>
      </p:sp>
      <p:sp>
        <p:nvSpPr>
          <p:cNvPr id="5" name="TextBox 4"/>
          <p:cNvSpPr txBox="1"/>
          <p:nvPr/>
        </p:nvSpPr>
        <p:spPr>
          <a:xfrm>
            <a:off x="731520" y="6035040"/>
            <a:ext cx="10058400" cy="457200"/>
          </a:xfrm>
          <a:prstGeom prst="rect">
            <a:avLst/>
          </a:prstGeom>
          <a:noFill/>
        </p:spPr>
        <p:txBody>
          <a:bodyPr wrap="square">
            <a:spAutoFit/>
          </a:bodyPr>
          <a:lstStyle/>
          <a:p>
            <a:pPr algn="l">
              <a:defRPr sz="1200" b="0">
                <a:solidFill>
                  <a:srgbClr val="8B9CB3"/>
                </a:solidFill>
              </a:defRPr>
            </a:pPr>
            <a:r>
              <a:t>Andrew Child  ·  github.com/andrewwchild/booklydemo  ·  booklydemo.streamlit.app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TextBox 1"/>
          <p:cNvSpPr txBox="1"/>
          <p:nvPr/>
        </p:nvSpPr>
        <p:spPr>
          <a:xfrm>
            <a:off x="731520" y="457200"/>
            <a:ext cx="10058400" cy="457200"/>
          </a:xfrm>
          <a:prstGeom prst="rect">
            <a:avLst/>
          </a:prstGeom>
          <a:noFill/>
        </p:spPr>
        <p:txBody>
          <a:bodyPr wrap="square">
            <a:spAutoFit/>
          </a:bodyPr>
          <a:lstStyle/>
          <a:p>
            <a:pPr algn="l">
              <a:defRPr sz="1400" b="1">
                <a:solidFill>
                  <a:srgbClr val="4F8CFF"/>
                </a:solidFill>
              </a:defRPr>
            </a:pPr>
            <a:r>
              <a:t>1 · THE THESIS</a:t>
            </a:r>
          </a:p>
        </p:txBody>
      </p:sp>
      <p:sp>
        <p:nvSpPr>
          <p:cNvPr id="3" name="TextBox 2"/>
          <p:cNvSpPr txBox="1"/>
          <p:nvPr/>
        </p:nvSpPr>
        <p:spPr>
          <a:xfrm>
            <a:off x="731520" y="914400"/>
            <a:ext cx="10515600" cy="1005840"/>
          </a:xfrm>
          <a:prstGeom prst="rect">
            <a:avLst/>
          </a:prstGeom>
          <a:noFill/>
        </p:spPr>
        <p:txBody>
          <a:bodyPr wrap="square">
            <a:spAutoFit/>
          </a:bodyPr>
          <a:lstStyle/>
          <a:p>
            <a:pPr algn="l">
              <a:defRPr sz="3200" b="1">
                <a:solidFill>
                  <a:srgbClr val="E8EDF4"/>
                </a:solidFill>
              </a:defRPr>
            </a:pPr>
            <a:r>
              <a:t>Never guess. Always check.</a:t>
            </a:r>
          </a:p>
        </p:txBody>
      </p:sp>
      <p:sp>
        <p:nvSpPr>
          <p:cNvPr id="4" name="TextBox 3"/>
          <p:cNvSpPr txBox="1"/>
          <p:nvPr/>
        </p:nvSpPr>
        <p:spPr>
          <a:xfrm>
            <a:off x="731520" y="1828800"/>
            <a:ext cx="10058400" cy="640080"/>
          </a:xfrm>
          <a:prstGeom prst="rect">
            <a:avLst/>
          </a:prstGeom>
          <a:noFill/>
        </p:spPr>
        <p:txBody>
          <a:bodyPr wrap="square">
            <a:spAutoFit/>
          </a:bodyPr>
          <a:lstStyle/>
          <a:p>
            <a:pPr algn="l">
              <a:defRPr sz="1800" b="0">
                <a:solidFill>
                  <a:srgbClr val="8B9CB3"/>
                </a:solidFill>
              </a:defRPr>
            </a:pPr>
            <a:r>
              <a:t>A wrong answer stated with confidence breaks trust faster than an honest pause ever could.</a:t>
            </a:r>
          </a:p>
        </p:txBody>
      </p:sp>
      <p:sp>
        <p:nvSpPr>
          <p:cNvPr id="5" name="TextBox 4"/>
          <p:cNvSpPr txBox="1"/>
          <p:nvPr/>
        </p:nvSpPr>
        <p:spPr>
          <a:xfrm>
            <a:off x="731520" y="2651760"/>
            <a:ext cx="10058400" cy="3291840"/>
          </a:xfrm>
          <a:prstGeom prst="rect">
            <a:avLst/>
          </a:prstGeom>
          <a:noFill/>
        </p:spPr>
        <p:txBody>
          <a:bodyPr wrap="square">
            <a:spAutoFit/>
          </a:bodyPr>
          <a:lstStyle/>
          <a:p>
            <a:pPr algn="l">
              <a:spcAft>
                <a:spcPts val="800"/>
              </a:spcAft>
              <a:defRPr sz="1800" b="0">
                <a:solidFill>
                  <a:srgbClr val="E8EDF4"/>
                </a:solidFill>
              </a:defRPr>
            </a:pPr>
            <a:r>
              <a:t>If the agent is missing information, it asks one focused question — it doesn't guess</a:t>
            </a:r>
          </a:p>
          <a:p>
            <a:pPr>
              <a:spcAft>
                <a:spcPts val="800"/>
              </a:spcAft>
              <a:defRPr sz="1800">
                <a:solidFill>
                  <a:srgbClr val="E8EDF4"/>
                </a:solidFill>
              </a:defRPr>
            </a:pPr>
            <a:r>
              <a:t>If the agent needs a fact, it retrieves it from a real system of record — never from memory</a:t>
            </a:r>
          </a:p>
          <a:p>
            <a:pPr>
              <a:spcAft>
                <a:spcPts val="800"/>
              </a:spcAft>
              <a:defRPr sz="1800">
                <a:solidFill>
                  <a:srgbClr val="E8EDF4"/>
                </a:solidFill>
              </a:defRPr>
            </a:pPr>
            <a:r>
              <a:t>Verification always happens before any action with consequences (refunds, resets)</a:t>
            </a:r>
          </a:p>
          <a:p>
            <a:pPr>
              <a:spcAft>
                <a:spcPts val="800"/>
              </a:spcAft>
              <a:defRPr sz="1800">
                <a:solidFill>
                  <a:srgbClr val="E8EDF4"/>
                </a:solidFill>
              </a:defRPr>
            </a:pPr>
            <a:r>
              <a:t>Being helpful and being right are the same requirement, not a trade-off</a:t>
            </a:r>
          </a:p>
        </p:txBody>
      </p:sp>
      <p:sp>
        <p:nvSpPr>
          <p:cNvPr id="6" name="TextBox 5"/>
          <p:cNvSpPr txBox="1"/>
          <p:nvPr/>
        </p:nvSpPr>
        <p:spPr>
          <a:xfrm>
            <a:off x="731520" y="5943600"/>
            <a:ext cx="10515600" cy="640080"/>
          </a:xfrm>
          <a:prstGeom prst="rect">
            <a:avLst/>
          </a:prstGeom>
          <a:noFill/>
        </p:spPr>
        <p:txBody>
          <a:bodyPr wrap="square">
            <a:spAutoFit/>
          </a:bodyPr>
          <a:lstStyle/>
          <a:p>
            <a:pPr algn="l">
              <a:defRPr sz="1600" b="1">
                <a:solidFill>
                  <a:srgbClr val="4F8CFF"/>
                </a:solidFill>
              </a:defRPr>
            </a:pPr>
            <a:r>
              <a:t>Everything on the next slides is this belief, implemented as code.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TextBox 1"/>
          <p:cNvSpPr txBox="1"/>
          <p:nvPr/>
        </p:nvSpPr>
        <p:spPr>
          <a:xfrm>
            <a:off x="731520" y="457200"/>
            <a:ext cx="10058400" cy="457200"/>
          </a:xfrm>
          <a:prstGeom prst="rect">
            <a:avLst/>
          </a:prstGeom>
          <a:noFill/>
        </p:spPr>
        <p:txBody>
          <a:bodyPr wrap="square">
            <a:spAutoFit/>
          </a:bodyPr>
          <a:lstStyle/>
          <a:p>
            <a:pPr algn="l">
              <a:defRPr sz="1400" b="1">
                <a:solidFill>
                  <a:srgbClr val="4F8CFF"/>
                </a:solidFill>
              </a:defRPr>
            </a:pPr>
            <a:r>
              <a:t>2 · ARCHITECTURE</a:t>
            </a:r>
          </a:p>
        </p:txBody>
      </p:sp>
      <p:sp>
        <p:nvSpPr>
          <p:cNvPr id="3" name="TextBox 2"/>
          <p:cNvSpPr txBox="1"/>
          <p:nvPr/>
        </p:nvSpPr>
        <p:spPr>
          <a:xfrm>
            <a:off x="731520" y="914400"/>
            <a:ext cx="10515600" cy="1005840"/>
          </a:xfrm>
          <a:prstGeom prst="rect">
            <a:avLst/>
          </a:prstGeom>
          <a:noFill/>
        </p:spPr>
        <p:txBody>
          <a:bodyPr wrap="square">
            <a:spAutoFit/>
          </a:bodyPr>
          <a:lstStyle/>
          <a:p>
            <a:pPr algn="l">
              <a:defRPr sz="3200" b="1">
                <a:solidFill>
                  <a:srgbClr val="E8EDF4"/>
                </a:solidFill>
              </a:defRPr>
            </a:pPr>
            <a:r>
              <a:t>How one inquiry flows through the system</a:t>
            </a:r>
          </a:p>
        </p:txBody>
      </p:sp>
      <p:sp>
        <p:nvSpPr>
          <p:cNvPr id="4" name="TextBox 3"/>
          <p:cNvSpPr txBox="1"/>
          <p:nvPr/>
        </p:nvSpPr>
        <p:spPr>
          <a:xfrm>
            <a:off x="731520" y="1828800"/>
            <a:ext cx="10515600" cy="2743200"/>
          </a:xfrm>
          <a:prstGeom prst="rect">
            <a:avLst/>
          </a:prstGeom>
          <a:noFill/>
        </p:spPr>
        <p:txBody>
          <a:bodyPr wrap="square">
            <a:spAutoFit/>
          </a:bodyPr>
          <a:lstStyle/>
          <a:p>
            <a:pPr algn="l">
              <a:defRPr sz="1700" b="0">
                <a:solidFill>
                  <a:srgbClr val="8B9CB3"/>
                </a:solidFill>
              </a:defRPr>
            </a:pPr>
            <a:r>
              <a:t>Customer  →  Chat UI  →  BooklyAgent (orchestrator)</a:t>
            </a:r>
            <a:br/>
            <a:r>
              <a:t>                              │</a:t>
            </a:r>
            <a:br/>
            <a:r>
              <a:t>                              ├─  Memory       — history + "slots" filled so far</a:t>
            </a:r>
            <a:br/>
            <a:r>
              <a:t>                              ├─  System prompt — the clarify-first house rules</a:t>
            </a:r>
            <a:br/>
            <a:r>
              <a:t>                              └─  LLM decides: ask a question, or call a tool?</a:t>
            </a:r>
            <a:br/>
            <a:r>
              <a:t>                                        │</a:t>
            </a:r>
            <a:br/>
            <a:r>
              <a:t>                                        └─  Tool  →  real Bookly data  →  reply</a:t>
            </a:r>
          </a:p>
        </p:txBody>
      </p:sp>
      <p:sp>
        <p:nvSpPr>
          <p:cNvPr id="5" name="TextBox 4"/>
          <p:cNvSpPr txBox="1"/>
          <p:nvPr/>
        </p:nvSpPr>
        <p:spPr>
          <a:xfrm>
            <a:off x="731520" y="4709160"/>
            <a:ext cx="10515600" cy="1645920"/>
          </a:xfrm>
          <a:prstGeom prst="rect">
            <a:avLst/>
          </a:prstGeom>
          <a:noFill/>
        </p:spPr>
        <p:txBody>
          <a:bodyPr wrap="square">
            <a:spAutoFit/>
          </a:bodyPr>
          <a:lstStyle/>
          <a:p>
            <a:pPr algn="l">
              <a:spcAft>
                <a:spcPts val="800"/>
              </a:spcAft>
              <a:defRPr sz="1700" b="0">
                <a:solidFill>
                  <a:srgbClr val="E8EDF4"/>
                </a:solidFill>
              </a:defRPr>
            </a:pPr>
            <a:r>
              <a:t>Example: "Where's my order?" → missing order ID → agent asks → "ORD-1001" → lookup_order → real UPS tracking, in one plain-language reply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TextBox 1"/>
          <p:cNvSpPr txBox="1"/>
          <p:nvPr/>
        </p:nvSpPr>
        <p:spPr>
          <a:xfrm>
            <a:off x="731520" y="457200"/>
            <a:ext cx="10058400" cy="457200"/>
          </a:xfrm>
          <a:prstGeom prst="rect">
            <a:avLst/>
          </a:prstGeom>
          <a:noFill/>
        </p:spPr>
        <p:txBody>
          <a:bodyPr wrap="square">
            <a:spAutoFit/>
          </a:bodyPr>
          <a:lstStyle/>
          <a:p>
            <a:pPr algn="l">
              <a:defRPr sz="1400" b="1">
                <a:solidFill>
                  <a:srgbClr val="4F8CFF"/>
                </a:solidFill>
              </a:defRPr>
            </a:pPr>
            <a:r>
              <a:t>2 · ARCHITECTURE</a:t>
            </a:r>
          </a:p>
        </p:txBody>
      </p:sp>
      <p:sp>
        <p:nvSpPr>
          <p:cNvPr id="3" name="TextBox 2"/>
          <p:cNvSpPr txBox="1"/>
          <p:nvPr/>
        </p:nvSpPr>
        <p:spPr>
          <a:xfrm>
            <a:off x="731520" y="914400"/>
            <a:ext cx="10515600" cy="1005840"/>
          </a:xfrm>
          <a:prstGeom prst="rect">
            <a:avLst/>
          </a:prstGeom>
          <a:noFill/>
        </p:spPr>
        <p:txBody>
          <a:bodyPr wrap="square">
            <a:spAutoFit/>
          </a:bodyPr>
          <a:lstStyle/>
          <a:p>
            <a:pPr algn="l">
              <a:defRPr sz="3200" b="1">
                <a:solidFill>
                  <a:srgbClr val="E8EDF4"/>
                </a:solidFill>
              </a:defRPr>
            </a:pPr>
            <a:r>
              <a:t>Four components, four jobs</a:t>
            </a:r>
          </a:p>
        </p:txBody>
      </p:sp>
      <p:sp>
        <p:nvSpPr>
          <p:cNvPr id="4" name="TextBox 3"/>
          <p:cNvSpPr txBox="1"/>
          <p:nvPr/>
        </p:nvSpPr>
        <p:spPr>
          <a:xfrm>
            <a:off x="731520" y="1874519"/>
            <a:ext cx="2011680" cy="457200"/>
          </a:xfrm>
          <a:prstGeom prst="rect">
            <a:avLst/>
          </a:prstGeom>
          <a:noFill/>
        </p:spPr>
        <p:txBody>
          <a:bodyPr wrap="square">
            <a:spAutoFit/>
          </a:bodyPr>
          <a:lstStyle/>
          <a:p>
            <a:pPr algn="l">
              <a:defRPr sz="1800" b="1">
                <a:solidFill>
                  <a:srgbClr val="4F8CFF"/>
                </a:solidFill>
              </a:defRPr>
            </a:pPr>
            <a:r>
              <a:t>Orchestrator</a:t>
            </a:r>
          </a:p>
        </p:txBody>
      </p:sp>
      <p:sp>
        <p:nvSpPr>
          <p:cNvPr id="5" name="TextBox 4"/>
          <p:cNvSpPr txBox="1"/>
          <p:nvPr/>
        </p:nvSpPr>
        <p:spPr>
          <a:xfrm>
            <a:off x="2880360" y="1874519"/>
            <a:ext cx="8229600" cy="457200"/>
          </a:xfrm>
          <a:prstGeom prst="rect">
            <a:avLst/>
          </a:prstGeom>
          <a:noFill/>
        </p:spPr>
        <p:txBody>
          <a:bodyPr wrap="square">
            <a:spAutoFit/>
          </a:bodyPr>
          <a:lstStyle/>
          <a:p>
            <a:pPr algn="l">
              <a:defRPr sz="1500" b="0">
                <a:solidFill>
                  <a:srgbClr val="E8EDF4"/>
                </a:solidFill>
              </a:defRPr>
            </a:pPr>
            <a:r>
              <a:t>Runs the loop: read message → decide next step → call a tool or reply</a:t>
            </a:r>
          </a:p>
        </p:txBody>
      </p:sp>
      <p:sp>
        <p:nvSpPr>
          <p:cNvPr id="6" name="TextBox 5"/>
          <p:cNvSpPr txBox="1"/>
          <p:nvPr/>
        </p:nvSpPr>
        <p:spPr>
          <a:xfrm>
            <a:off x="2880360" y="2258567"/>
            <a:ext cx="8229600" cy="548640"/>
          </a:xfrm>
          <a:prstGeom prst="rect">
            <a:avLst/>
          </a:prstGeom>
          <a:noFill/>
        </p:spPr>
        <p:txBody>
          <a:bodyPr wrap="square">
            <a:spAutoFit/>
          </a:bodyPr>
          <a:lstStyle/>
          <a:p>
            <a:pPr algn="l">
              <a:defRPr sz="1300" b="0">
                <a:solidFill>
                  <a:srgbClr val="8B9CB3"/>
                </a:solidFill>
              </a:defRPr>
            </a:pPr>
            <a:r>
              <a:t>agent/orchestrator.py — LLM path + a rules-based fallback with no API key</a:t>
            </a:r>
          </a:p>
        </p:txBody>
      </p:sp>
      <p:sp>
        <p:nvSpPr>
          <p:cNvPr id="7" name="TextBox 6"/>
          <p:cNvSpPr txBox="1"/>
          <p:nvPr/>
        </p:nvSpPr>
        <p:spPr>
          <a:xfrm>
            <a:off x="731520" y="2926079"/>
            <a:ext cx="2011680" cy="457200"/>
          </a:xfrm>
          <a:prstGeom prst="rect">
            <a:avLst/>
          </a:prstGeom>
          <a:noFill/>
        </p:spPr>
        <p:txBody>
          <a:bodyPr wrap="square">
            <a:spAutoFit/>
          </a:bodyPr>
          <a:lstStyle/>
          <a:p>
            <a:pPr algn="l">
              <a:defRPr sz="1800" b="1">
                <a:solidFill>
                  <a:srgbClr val="4F8CFF"/>
                </a:solidFill>
              </a:defRPr>
            </a:pPr>
            <a:r>
              <a:t>Tools</a:t>
            </a:r>
          </a:p>
        </p:txBody>
      </p:sp>
      <p:sp>
        <p:nvSpPr>
          <p:cNvPr id="8" name="TextBox 7"/>
          <p:cNvSpPr txBox="1"/>
          <p:nvPr/>
        </p:nvSpPr>
        <p:spPr>
          <a:xfrm>
            <a:off x="2880360" y="2926079"/>
            <a:ext cx="8229600" cy="457200"/>
          </a:xfrm>
          <a:prstGeom prst="rect">
            <a:avLst/>
          </a:prstGeom>
          <a:noFill/>
        </p:spPr>
        <p:txBody>
          <a:bodyPr wrap="square">
            <a:spAutoFit/>
          </a:bodyPr>
          <a:lstStyle/>
          <a:p>
            <a:pPr algn="l">
              <a:defRPr sz="1500" b="0">
                <a:solidFill>
                  <a:srgbClr val="E8EDF4"/>
                </a:solidFill>
              </a:defRPr>
            </a:pPr>
            <a:r>
              <a:t>The only things allowed to touch real data — one job each</a:t>
            </a:r>
          </a:p>
        </p:txBody>
      </p:sp>
      <p:sp>
        <p:nvSpPr>
          <p:cNvPr id="9" name="TextBox 8"/>
          <p:cNvSpPr txBox="1"/>
          <p:nvPr/>
        </p:nvSpPr>
        <p:spPr>
          <a:xfrm>
            <a:off x="2880360" y="3310127"/>
            <a:ext cx="8229600" cy="548640"/>
          </a:xfrm>
          <a:prstGeom prst="rect">
            <a:avLst/>
          </a:prstGeom>
          <a:noFill/>
        </p:spPr>
        <p:txBody>
          <a:bodyPr wrap="square">
            <a:spAutoFit/>
          </a:bodyPr>
          <a:lstStyle/>
          <a:p>
            <a:pPr algn="l">
              <a:defRPr sz="1300" b="0">
                <a:solidFill>
                  <a:srgbClr val="8B9CB3"/>
                </a:solidFill>
              </a:defRPr>
            </a:pPr>
            <a:r>
              <a:t>8 functions: lookup_order, verify_customer_identity, initiate_refund, check_stock, research_books, get_policy, send_password_reset, escalate_to_human</a:t>
            </a:r>
          </a:p>
        </p:txBody>
      </p:sp>
      <p:sp>
        <p:nvSpPr>
          <p:cNvPr id="10" name="TextBox 9"/>
          <p:cNvSpPr txBox="1"/>
          <p:nvPr/>
        </p:nvSpPr>
        <p:spPr>
          <a:xfrm>
            <a:off x="731520" y="3977639"/>
            <a:ext cx="2011680" cy="457200"/>
          </a:xfrm>
          <a:prstGeom prst="rect">
            <a:avLst/>
          </a:prstGeom>
          <a:noFill/>
        </p:spPr>
        <p:txBody>
          <a:bodyPr wrap="square">
            <a:spAutoFit/>
          </a:bodyPr>
          <a:lstStyle/>
          <a:p>
            <a:pPr algn="l">
              <a:defRPr sz="1800" b="1">
                <a:solidFill>
                  <a:srgbClr val="4F8CFF"/>
                </a:solidFill>
              </a:defRPr>
            </a:pPr>
            <a:r>
              <a:t>Memory</a:t>
            </a:r>
          </a:p>
        </p:txBody>
      </p:sp>
      <p:sp>
        <p:nvSpPr>
          <p:cNvPr id="11" name="TextBox 10"/>
          <p:cNvSpPr txBox="1"/>
          <p:nvPr/>
        </p:nvSpPr>
        <p:spPr>
          <a:xfrm>
            <a:off x="2880360" y="3977639"/>
            <a:ext cx="8229600" cy="457200"/>
          </a:xfrm>
          <a:prstGeom prst="rect">
            <a:avLst/>
          </a:prstGeom>
          <a:noFill/>
        </p:spPr>
        <p:txBody>
          <a:bodyPr wrap="square">
            <a:spAutoFit/>
          </a:bodyPr>
          <a:lstStyle/>
          <a:p>
            <a:pPr algn="l">
              <a:defRPr sz="1500" b="0">
                <a:solidFill>
                  <a:srgbClr val="E8EDF4"/>
                </a:solidFill>
              </a:defRPr>
            </a:pPr>
            <a:r>
              <a:t>Tracks conversation history plus the "slots" collected so far</a:t>
            </a:r>
          </a:p>
        </p:txBody>
      </p:sp>
      <p:sp>
        <p:nvSpPr>
          <p:cNvPr id="12" name="TextBox 11"/>
          <p:cNvSpPr txBox="1"/>
          <p:nvPr/>
        </p:nvSpPr>
        <p:spPr>
          <a:xfrm>
            <a:off x="2880360" y="4361687"/>
            <a:ext cx="8229600" cy="548640"/>
          </a:xfrm>
          <a:prstGeom prst="rect">
            <a:avLst/>
          </a:prstGeom>
          <a:noFill/>
        </p:spPr>
        <p:txBody>
          <a:bodyPr wrap="square">
            <a:spAutoFit/>
          </a:bodyPr>
          <a:lstStyle/>
          <a:p>
            <a:pPr algn="l">
              <a:defRPr sz="1300" b="0">
                <a:solidFill>
                  <a:srgbClr val="8B9CB3"/>
                </a:solidFill>
              </a:defRPr>
            </a:pPr>
            <a:r>
              <a:t>order_id, reason, customer_email, book_title — filled in across turns, not re-asked</a:t>
            </a:r>
          </a:p>
        </p:txBody>
      </p:sp>
      <p:sp>
        <p:nvSpPr>
          <p:cNvPr id="13" name="TextBox 12"/>
          <p:cNvSpPr txBox="1"/>
          <p:nvPr/>
        </p:nvSpPr>
        <p:spPr>
          <a:xfrm>
            <a:off x="731520" y="5029198"/>
            <a:ext cx="2011680" cy="457200"/>
          </a:xfrm>
          <a:prstGeom prst="rect">
            <a:avLst/>
          </a:prstGeom>
          <a:noFill/>
        </p:spPr>
        <p:txBody>
          <a:bodyPr wrap="square">
            <a:spAutoFit/>
          </a:bodyPr>
          <a:lstStyle/>
          <a:p>
            <a:pPr algn="l">
              <a:defRPr sz="1800" b="1">
                <a:solidFill>
                  <a:srgbClr val="4F8CFF"/>
                </a:solidFill>
              </a:defRPr>
            </a:pPr>
            <a:r>
              <a:t>Prompts</a:t>
            </a:r>
          </a:p>
        </p:txBody>
      </p:sp>
      <p:sp>
        <p:nvSpPr>
          <p:cNvPr id="14" name="TextBox 13"/>
          <p:cNvSpPr txBox="1"/>
          <p:nvPr/>
        </p:nvSpPr>
        <p:spPr>
          <a:xfrm>
            <a:off x="2880360" y="5029198"/>
            <a:ext cx="8229600" cy="457200"/>
          </a:xfrm>
          <a:prstGeom prst="rect">
            <a:avLst/>
          </a:prstGeom>
          <a:noFill/>
        </p:spPr>
        <p:txBody>
          <a:bodyPr wrap="square">
            <a:spAutoFit/>
          </a:bodyPr>
          <a:lstStyle/>
          <a:p>
            <a:pPr algn="l">
              <a:defRPr sz="1500" b="0">
                <a:solidFill>
                  <a:srgbClr val="E8EDF4"/>
                </a:solidFill>
              </a:defRPr>
            </a:pPr>
            <a:r>
              <a:t>The house rules: clarify-first policy, tone, when to use which tool</a:t>
            </a:r>
          </a:p>
        </p:txBody>
      </p:sp>
      <p:sp>
        <p:nvSpPr>
          <p:cNvPr id="15" name="TextBox 14"/>
          <p:cNvSpPr txBox="1"/>
          <p:nvPr/>
        </p:nvSpPr>
        <p:spPr>
          <a:xfrm>
            <a:off x="2880360" y="5413246"/>
            <a:ext cx="8229600" cy="548640"/>
          </a:xfrm>
          <a:prstGeom prst="rect">
            <a:avLst/>
          </a:prstGeom>
          <a:noFill/>
        </p:spPr>
        <p:txBody>
          <a:bodyPr wrap="square">
            <a:spAutoFit/>
          </a:bodyPr>
          <a:lstStyle/>
          <a:p>
            <a:pPr algn="l">
              <a:defRPr sz="1300" b="0">
                <a:solidFill>
                  <a:srgbClr val="8B9CB3"/>
                </a:solidFill>
              </a:defRPr>
            </a:pPr>
            <a:r>
              <a:t>One system prompt shared by every intent — no per-intent prompt sprawl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TextBox 1"/>
          <p:cNvSpPr txBox="1"/>
          <p:nvPr/>
        </p:nvSpPr>
        <p:spPr>
          <a:xfrm>
            <a:off x="731520" y="457200"/>
            <a:ext cx="10058400" cy="457200"/>
          </a:xfrm>
          <a:prstGeom prst="rect">
            <a:avLst/>
          </a:prstGeom>
          <a:noFill/>
        </p:spPr>
        <p:txBody>
          <a:bodyPr wrap="square">
            <a:spAutoFit/>
          </a:bodyPr>
          <a:lstStyle/>
          <a:p>
            <a:pPr algn="l">
              <a:defRPr sz="1400" b="1">
                <a:solidFill>
                  <a:srgbClr val="4F8CFF"/>
                </a:solidFill>
              </a:defRPr>
            </a:pPr>
            <a:r>
              <a:t>3 · KEY DECISION 1 OF 3</a:t>
            </a:r>
          </a:p>
        </p:txBody>
      </p:sp>
      <p:sp>
        <p:nvSpPr>
          <p:cNvPr id="3" name="TextBox 2"/>
          <p:cNvSpPr txBox="1"/>
          <p:nvPr/>
        </p:nvSpPr>
        <p:spPr>
          <a:xfrm>
            <a:off x="731520" y="914400"/>
            <a:ext cx="10515600" cy="1005840"/>
          </a:xfrm>
          <a:prstGeom prst="rect">
            <a:avLst/>
          </a:prstGeom>
          <a:noFill/>
        </p:spPr>
        <p:txBody>
          <a:bodyPr wrap="square">
            <a:spAutoFit/>
          </a:bodyPr>
          <a:lstStyle/>
          <a:p>
            <a:pPr algn="l">
              <a:defRPr sz="3000" b="1">
                <a:solidFill>
                  <a:srgbClr val="E8EDF4"/>
                </a:solidFill>
              </a:defRPr>
            </a:pPr>
            <a:r>
              <a:t>Facts come from tools — never from the model</a:t>
            </a:r>
          </a:p>
        </p:txBody>
      </p:sp>
      <p:sp>
        <p:nvSpPr>
          <p:cNvPr id="4" name="TextBox 3"/>
          <p:cNvSpPr txBox="1"/>
          <p:nvPr/>
        </p:nvSpPr>
        <p:spPr>
          <a:xfrm>
            <a:off x="731520" y="1920240"/>
            <a:ext cx="5120640" cy="3840480"/>
          </a:xfrm>
          <a:prstGeom prst="rect">
            <a:avLst/>
          </a:prstGeom>
          <a:noFill/>
        </p:spPr>
        <p:txBody>
          <a:bodyPr wrap="square">
            <a:spAutoFit/>
          </a:bodyPr>
          <a:lstStyle/>
          <a:p>
            <a:pPr algn="l">
              <a:defRPr sz="1800" b="1">
                <a:solidFill>
                  <a:srgbClr val="6FCF97"/>
                </a:solidFill>
              </a:defRPr>
            </a:pPr>
            <a:r>
              <a:t>Chose</a:t>
            </a:r>
          </a:p>
          <a:p>
            <a:pPr>
              <a:spcAft>
                <a:spcPts val="800"/>
              </a:spcAft>
              <a:defRPr sz="1600">
                <a:solidFill>
                  <a:srgbClr val="E8EDF4"/>
                </a:solidFill>
              </a:defRPr>
            </a:pPr>
            <a:r>
              <a:t>LLM's only job is deciding what to do — never stating a transactional fact itself</a:t>
            </a:r>
          </a:p>
          <a:p>
            <a:pPr>
              <a:spcAft>
                <a:spcPts val="800"/>
              </a:spcAft>
              <a:defRPr sz="1600">
                <a:solidFill>
                  <a:srgbClr val="E8EDF4"/>
                </a:solidFill>
              </a:defRPr>
            </a:pPr>
            <a:r>
              <a:t>Every factual claim (status, stock, policy) must pass through a tool call</a:t>
            </a:r>
          </a:p>
          <a:p>
            <a:pPr>
              <a:spcAft>
                <a:spcPts val="800"/>
              </a:spcAft>
              <a:defRPr sz="1600">
                <a:solidFill>
                  <a:srgbClr val="E8EDF4"/>
                </a:solidFill>
              </a:defRPr>
            </a:pPr>
            <a:r>
              <a:t>The system prompt explicitly forbids answering these from memory</a:t>
            </a:r>
          </a:p>
        </p:txBody>
      </p:sp>
      <p:sp>
        <p:nvSpPr>
          <p:cNvPr id="5" name="TextBox 4"/>
          <p:cNvSpPr txBox="1"/>
          <p:nvPr/>
        </p:nvSpPr>
        <p:spPr>
          <a:xfrm>
            <a:off x="6035040" y="1920240"/>
            <a:ext cx="5394960" cy="3840480"/>
          </a:xfrm>
          <a:prstGeom prst="rect">
            <a:avLst/>
          </a:prstGeom>
          <a:noFill/>
        </p:spPr>
        <p:txBody>
          <a:bodyPr wrap="square">
            <a:spAutoFit/>
          </a:bodyPr>
          <a:lstStyle/>
          <a:p>
            <a:pPr algn="l">
              <a:defRPr sz="1800" b="1">
                <a:solidFill>
                  <a:srgbClr val="F2994A"/>
                </a:solidFill>
              </a:defRPr>
            </a:pPr>
            <a:r>
              <a:t>Traded off</a:t>
            </a:r>
          </a:p>
          <a:p>
            <a:pPr>
              <a:spcAft>
                <a:spcPts val="800"/>
              </a:spcAft>
              <a:defRPr sz="1600">
                <a:solidFill>
                  <a:srgbClr val="E8EDF4"/>
                </a:solidFill>
              </a:defRPr>
            </a:pPr>
            <a:r>
              <a:t>Every new capability needs a hand-written tool + schema</a:t>
            </a:r>
          </a:p>
          <a:p>
            <a:pPr>
              <a:spcAft>
                <a:spcPts val="800"/>
              </a:spcAft>
              <a:defRPr sz="1600">
                <a:solidFill>
                  <a:srgbClr val="E8EDF4"/>
                </a:solidFill>
              </a:defRPr>
            </a:pPr>
            <a:r>
              <a:t>Slower to add breadth than "just let the model answer"</a:t>
            </a:r>
          </a:p>
        </p:txBody>
      </p:sp>
      <p:sp>
        <p:nvSpPr>
          <p:cNvPr id="6" name="TextBox 5"/>
          <p:cNvSpPr txBox="1"/>
          <p:nvPr/>
        </p:nvSpPr>
        <p:spPr>
          <a:xfrm>
            <a:off x="731520" y="5806440"/>
            <a:ext cx="10515600" cy="822960"/>
          </a:xfrm>
          <a:prstGeom prst="rect">
            <a:avLst/>
          </a:prstGeom>
          <a:noFill/>
        </p:spPr>
        <p:txBody>
          <a:bodyPr wrap="square">
            <a:spAutoFit/>
          </a:bodyPr>
          <a:lstStyle/>
          <a:p>
            <a:pPr algn="l">
              <a:defRPr sz="1600" b="1">
                <a:solidFill>
                  <a:srgbClr val="4F8CFF"/>
                </a:solidFill>
              </a:defRPr>
            </a:pPr>
            <a:r>
              <a:t>Worth it because: a wrong refund amount or order status is a trust failure, not a bug — the dev cost of one more tool is always cheaper than a hallucinated fact.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TextBox 1"/>
          <p:cNvSpPr txBox="1"/>
          <p:nvPr/>
        </p:nvSpPr>
        <p:spPr>
          <a:xfrm>
            <a:off x="731520" y="457200"/>
            <a:ext cx="10058400" cy="457200"/>
          </a:xfrm>
          <a:prstGeom prst="rect">
            <a:avLst/>
          </a:prstGeom>
          <a:noFill/>
        </p:spPr>
        <p:txBody>
          <a:bodyPr wrap="square">
            <a:spAutoFit/>
          </a:bodyPr>
          <a:lstStyle/>
          <a:p>
            <a:pPr algn="l">
              <a:defRPr sz="1400" b="1">
                <a:solidFill>
                  <a:srgbClr val="4F8CFF"/>
                </a:solidFill>
              </a:defRPr>
            </a:pPr>
            <a:r>
              <a:t>3 · KEY DECISION 2 OF 3</a:t>
            </a:r>
          </a:p>
        </p:txBody>
      </p:sp>
      <p:sp>
        <p:nvSpPr>
          <p:cNvPr id="3" name="TextBox 2"/>
          <p:cNvSpPr txBox="1"/>
          <p:nvPr/>
        </p:nvSpPr>
        <p:spPr>
          <a:xfrm>
            <a:off x="731520" y="914400"/>
            <a:ext cx="10515600" cy="1005840"/>
          </a:xfrm>
          <a:prstGeom prst="rect">
            <a:avLst/>
          </a:prstGeom>
          <a:noFill/>
        </p:spPr>
        <p:txBody>
          <a:bodyPr wrap="square">
            <a:spAutoFit/>
          </a:bodyPr>
          <a:lstStyle/>
          <a:p>
            <a:pPr algn="l">
              <a:defRPr sz="3000" b="1">
                <a:solidFill>
                  <a:srgbClr val="E8EDF4"/>
                </a:solidFill>
              </a:defRPr>
            </a:pPr>
            <a:r>
              <a:t>Clarify-first intent handling, with slot memory</a:t>
            </a:r>
          </a:p>
        </p:txBody>
      </p:sp>
      <p:sp>
        <p:nvSpPr>
          <p:cNvPr id="4" name="TextBox 3"/>
          <p:cNvSpPr txBox="1"/>
          <p:nvPr/>
        </p:nvSpPr>
        <p:spPr>
          <a:xfrm>
            <a:off x="731520" y="1920240"/>
            <a:ext cx="5120640" cy="3840480"/>
          </a:xfrm>
          <a:prstGeom prst="rect">
            <a:avLst/>
          </a:prstGeom>
          <a:noFill/>
        </p:spPr>
        <p:txBody>
          <a:bodyPr wrap="square">
            <a:spAutoFit/>
          </a:bodyPr>
          <a:lstStyle/>
          <a:p>
            <a:pPr algn="l">
              <a:defRPr sz="1800" b="1">
                <a:solidFill>
                  <a:srgbClr val="6FCF97"/>
                </a:solidFill>
              </a:defRPr>
            </a:pPr>
            <a:r>
              <a:t>Chose</a:t>
            </a:r>
          </a:p>
          <a:p>
            <a:pPr>
              <a:spcAft>
                <a:spcPts val="800"/>
              </a:spcAft>
              <a:defRPr sz="1600">
                <a:solidFill>
                  <a:srgbClr val="E8EDF4"/>
                </a:solidFill>
              </a:defRPr>
            </a:pPr>
            <a:r>
              <a:t>Agent tracks a "pending intent" + the specific slot it's waiting on</a:t>
            </a:r>
          </a:p>
          <a:p>
            <a:pPr>
              <a:spcAft>
                <a:spcPts val="800"/>
              </a:spcAft>
              <a:defRPr sz="1600">
                <a:solidFill>
                  <a:srgbClr val="E8EDF4"/>
                </a:solidFill>
              </a:defRPr>
            </a:pPr>
            <a:r>
              <a:t>Missing info → one targeted question, not a guess or a wall of questions</a:t>
            </a:r>
          </a:p>
          <a:p>
            <a:pPr>
              <a:spcAft>
                <a:spcPts val="800"/>
              </a:spcAft>
              <a:defRPr sz="1600">
                <a:solidFill>
                  <a:srgbClr val="E8EDF4"/>
                </a:solidFill>
              </a:defRPr>
            </a:pPr>
            <a:r>
              <a:t>Mid-flow, new input answers the open question first — it doesn't get re-diagnosed</a:t>
            </a:r>
          </a:p>
        </p:txBody>
      </p:sp>
      <p:sp>
        <p:nvSpPr>
          <p:cNvPr id="5" name="TextBox 4"/>
          <p:cNvSpPr txBox="1"/>
          <p:nvPr/>
        </p:nvSpPr>
        <p:spPr>
          <a:xfrm>
            <a:off x="6035040" y="1920240"/>
            <a:ext cx="5394960" cy="3840480"/>
          </a:xfrm>
          <a:prstGeom prst="rect">
            <a:avLst/>
          </a:prstGeom>
          <a:noFill/>
        </p:spPr>
        <p:txBody>
          <a:bodyPr wrap="square">
            <a:spAutoFit/>
          </a:bodyPr>
          <a:lstStyle/>
          <a:p>
            <a:pPr algn="l">
              <a:defRPr sz="1800" b="1">
                <a:solidFill>
                  <a:srgbClr val="F2994A"/>
                </a:solidFill>
              </a:defRPr>
            </a:pPr>
            <a:r>
              <a:t>Traded off</a:t>
            </a:r>
          </a:p>
          <a:p>
            <a:pPr>
              <a:spcAft>
                <a:spcPts val="800"/>
              </a:spcAft>
              <a:defRPr sz="1600">
                <a:solidFill>
                  <a:srgbClr val="E8EDF4"/>
                </a:solidFill>
              </a:defRPr>
            </a:pPr>
            <a:r>
              <a:t>A lightweight state tracker, not a general-purpose dialogue manager</a:t>
            </a:r>
          </a:p>
          <a:p>
            <a:pPr>
              <a:spcAft>
                <a:spcPts val="800"/>
              </a:spcAft>
              <a:defRPr sz="1600">
                <a:solidFill>
                  <a:srgbClr val="E8EDF4"/>
                </a:solidFill>
              </a:defRPr>
            </a:pPr>
            <a:r>
              <a:t>Works cleanly at 8 intents — wouldn't scale as-is to hundreds</a:t>
            </a:r>
          </a:p>
        </p:txBody>
      </p:sp>
      <p:sp>
        <p:nvSpPr>
          <p:cNvPr id="6" name="TextBox 5"/>
          <p:cNvSpPr txBox="1"/>
          <p:nvPr/>
        </p:nvSpPr>
        <p:spPr>
          <a:xfrm>
            <a:off x="731520" y="5806440"/>
            <a:ext cx="10515600" cy="822960"/>
          </a:xfrm>
          <a:prstGeom prst="rect">
            <a:avLst/>
          </a:prstGeom>
          <a:noFill/>
        </p:spPr>
        <p:txBody>
          <a:bodyPr wrap="square">
            <a:spAutoFit/>
          </a:bodyPr>
          <a:lstStyle/>
          <a:p>
            <a:pPr algn="l">
              <a:defRPr sz="1600" b="1">
                <a:solidFill>
                  <a:srgbClr val="4F8CFF"/>
                </a:solidFill>
              </a:defRPr>
            </a:pPr>
            <a:r>
              <a:t>Worth it because: refunds need order ID → reason → email, in order — a hand-built slot tracker makes "what's still missing" a one-line check, and keeps behavior testable.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TextBox 1"/>
          <p:cNvSpPr txBox="1"/>
          <p:nvPr/>
        </p:nvSpPr>
        <p:spPr>
          <a:xfrm>
            <a:off x="731520" y="457200"/>
            <a:ext cx="10058400" cy="457200"/>
          </a:xfrm>
          <a:prstGeom prst="rect">
            <a:avLst/>
          </a:prstGeom>
          <a:noFill/>
        </p:spPr>
        <p:txBody>
          <a:bodyPr wrap="square">
            <a:spAutoFit/>
          </a:bodyPr>
          <a:lstStyle/>
          <a:p>
            <a:pPr algn="l">
              <a:defRPr sz="1400" b="1">
                <a:solidFill>
                  <a:srgbClr val="4F8CFF"/>
                </a:solidFill>
              </a:defRPr>
            </a:pPr>
            <a:r>
              <a:t>3 · KEY DECISION 3 OF 3</a:t>
            </a:r>
          </a:p>
        </p:txBody>
      </p:sp>
      <p:sp>
        <p:nvSpPr>
          <p:cNvPr id="3" name="TextBox 2"/>
          <p:cNvSpPr txBox="1"/>
          <p:nvPr/>
        </p:nvSpPr>
        <p:spPr>
          <a:xfrm>
            <a:off x="731520" y="914400"/>
            <a:ext cx="10515600" cy="1005840"/>
          </a:xfrm>
          <a:prstGeom prst="rect">
            <a:avLst/>
          </a:prstGeom>
          <a:noFill/>
        </p:spPr>
        <p:txBody>
          <a:bodyPr wrap="square">
            <a:spAutoFit/>
          </a:bodyPr>
          <a:lstStyle/>
          <a:p>
            <a:pPr algn="l">
              <a:defRPr sz="3000" b="1">
                <a:solidFill>
                  <a:srgbClr val="E8EDF4"/>
                </a:solidFill>
              </a:defRPr>
            </a:pPr>
            <a:r>
              <a:t>Verify-before-act, as two separate gates</a:t>
            </a:r>
          </a:p>
        </p:txBody>
      </p:sp>
      <p:sp>
        <p:nvSpPr>
          <p:cNvPr id="4" name="TextBox 3"/>
          <p:cNvSpPr txBox="1"/>
          <p:nvPr/>
        </p:nvSpPr>
        <p:spPr>
          <a:xfrm>
            <a:off x="731520" y="1920240"/>
            <a:ext cx="5120640" cy="3840480"/>
          </a:xfrm>
          <a:prstGeom prst="rect">
            <a:avLst/>
          </a:prstGeom>
          <a:noFill/>
        </p:spPr>
        <p:txBody>
          <a:bodyPr wrap="square">
            <a:spAutoFit/>
          </a:bodyPr>
          <a:lstStyle/>
          <a:p>
            <a:pPr algn="l">
              <a:defRPr sz="1800" b="1">
                <a:solidFill>
                  <a:srgbClr val="6FCF97"/>
                </a:solidFill>
              </a:defRPr>
            </a:pPr>
            <a:r>
              <a:t>Chose</a:t>
            </a:r>
          </a:p>
          <a:p>
            <a:pPr>
              <a:spcAft>
                <a:spcPts val="800"/>
              </a:spcAft>
              <a:defRPr sz="1600">
                <a:solidFill>
                  <a:srgbClr val="E8EDF4"/>
                </a:solidFill>
              </a:defRPr>
            </a:pPr>
            <a:r>
              <a:t>"Prove who you are" (identity) and "is this allowed" (eligibility) are two separate tool calls</a:t>
            </a:r>
          </a:p>
          <a:p>
            <a:pPr>
              <a:spcAft>
                <a:spcPts val="800"/>
              </a:spcAft>
              <a:defRPr sz="1600">
                <a:solidFill>
                  <a:srgbClr val="E8EDF4"/>
                </a:solidFill>
              </a:defRPr>
            </a:pPr>
            <a:r>
              <a:t>Refund is only attempted after identity passes</a:t>
            </a:r>
          </a:p>
          <a:p>
            <a:pPr>
              <a:spcAft>
                <a:spcPts val="800"/>
              </a:spcAft>
              <a:defRPr sz="1600">
                <a:solidFill>
                  <a:srgbClr val="E8EDF4"/>
                </a:solidFill>
              </a:defRPr>
            </a:pPr>
            <a:r>
              <a:t>Eligibility can still say no afterward — verification isn't approval</a:t>
            </a:r>
          </a:p>
        </p:txBody>
      </p:sp>
      <p:sp>
        <p:nvSpPr>
          <p:cNvPr id="5" name="TextBox 4"/>
          <p:cNvSpPr txBox="1"/>
          <p:nvPr/>
        </p:nvSpPr>
        <p:spPr>
          <a:xfrm>
            <a:off x="6035040" y="1920240"/>
            <a:ext cx="5394960" cy="3840480"/>
          </a:xfrm>
          <a:prstGeom prst="rect">
            <a:avLst/>
          </a:prstGeom>
          <a:noFill/>
        </p:spPr>
        <p:txBody>
          <a:bodyPr wrap="square">
            <a:spAutoFit/>
          </a:bodyPr>
          <a:lstStyle/>
          <a:p>
            <a:pPr algn="l">
              <a:defRPr sz="1800" b="1">
                <a:solidFill>
                  <a:srgbClr val="F2994A"/>
                </a:solidFill>
              </a:defRPr>
            </a:pPr>
            <a:r>
              <a:t>Traded off</a:t>
            </a:r>
          </a:p>
          <a:p>
            <a:pPr>
              <a:spcAft>
                <a:spcPts val="800"/>
              </a:spcAft>
              <a:defRPr sz="1600">
                <a:solidFill>
                  <a:srgbClr val="E8EDF4"/>
                </a:solidFill>
              </a:defRPr>
            </a:pPr>
            <a:r>
              <a:t>Real friction — legitimate customers answer 3-4 questions before a refund starts</a:t>
            </a:r>
          </a:p>
          <a:p>
            <a:pPr>
              <a:spcAft>
                <a:spcPts val="800"/>
              </a:spcAft>
              <a:defRPr sz="1600">
                <a:solidFill>
                  <a:srgbClr val="E8EDF4"/>
                </a:solidFill>
              </a:defRPr>
            </a:pPr>
            <a:r>
              <a:t>A "just do it" bot would feel faster in the common case</a:t>
            </a:r>
          </a:p>
        </p:txBody>
      </p:sp>
      <p:sp>
        <p:nvSpPr>
          <p:cNvPr id="6" name="TextBox 5"/>
          <p:cNvSpPr txBox="1"/>
          <p:nvPr/>
        </p:nvSpPr>
        <p:spPr>
          <a:xfrm>
            <a:off x="731520" y="5806440"/>
            <a:ext cx="10515600" cy="822960"/>
          </a:xfrm>
          <a:prstGeom prst="rect">
            <a:avLst/>
          </a:prstGeom>
          <a:noFill/>
        </p:spPr>
        <p:txBody>
          <a:bodyPr wrap="square">
            <a:spAutoFit/>
          </a:bodyPr>
          <a:lstStyle/>
          <a:p>
            <a:pPr algn="l">
              <a:defRPr sz="1600" b="1">
                <a:solidFill>
                  <a:srgbClr val="4F8CFF"/>
                </a:solidFill>
              </a:defRPr>
            </a:pPr>
            <a:r>
              <a:t>Worth it because: refunds are the highest-risk action in the system — two independent gates with two distinct failure messages beat one fast, ambiguous 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TextBox 1"/>
          <p:cNvSpPr txBox="1"/>
          <p:nvPr/>
        </p:nvSpPr>
        <p:spPr>
          <a:xfrm>
            <a:off x="731520" y="457200"/>
            <a:ext cx="10058400" cy="457200"/>
          </a:xfrm>
          <a:prstGeom prst="rect">
            <a:avLst/>
          </a:prstGeom>
          <a:noFill/>
        </p:spPr>
        <p:txBody>
          <a:bodyPr wrap="square">
            <a:spAutoFit/>
          </a:bodyPr>
          <a:lstStyle/>
          <a:p>
            <a:pPr algn="l">
              <a:defRPr sz="1400" b="1">
                <a:solidFill>
                  <a:srgbClr val="4F8CFF"/>
                </a:solidFill>
              </a:defRPr>
            </a:pPr>
            <a:r>
              <a:t>4 · WHAT I'D DO DIFFERENTLY</a:t>
            </a:r>
          </a:p>
        </p:txBody>
      </p:sp>
      <p:sp>
        <p:nvSpPr>
          <p:cNvPr id="3" name="TextBox 2"/>
          <p:cNvSpPr txBox="1"/>
          <p:nvPr/>
        </p:nvSpPr>
        <p:spPr>
          <a:xfrm>
            <a:off x="731520" y="914400"/>
            <a:ext cx="10515600" cy="1005840"/>
          </a:xfrm>
          <a:prstGeom prst="rect">
            <a:avLst/>
          </a:prstGeom>
          <a:noFill/>
        </p:spPr>
        <p:txBody>
          <a:bodyPr wrap="square">
            <a:spAutoFit/>
          </a:bodyPr>
          <a:lstStyle/>
          <a:p>
            <a:pPr algn="l">
              <a:defRPr sz="2800" b="1">
                <a:solidFill>
                  <a:srgbClr val="E8EDF4"/>
                </a:solidFill>
              </a:defRPr>
            </a:pPr>
            <a:r>
              <a:t>First change: let the agent doubt itself, not just the customer</a:t>
            </a:r>
          </a:p>
        </p:txBody>
      </p:sp>
      <p:sp>
        <p:nvSpPr>
          <p:cNvPr id="4" name="TextBox 3"/>
          <p:cNvSpPr txBox="1"/>
          <p:nvPr/>
        </p:nvSpPr>
        <p:spPr>
          <a:xfrm>
            <a:off x="731520" y="1828800"/>
            <a:ext cx="10332720" cy="640080"/>
          </a:xfrm>
          <a:prstGeom prst="rect">
            <a:avLst/>
          </a:prstGeom>
          <a:noFill/>
        </p:spPr>
        <p:txBody>
          <a:bodyPr wrap="square">
            <a:spAutoFit/>
          </a:bodyPr>
          <a:lstStyle/>
          <a:p>
            <a:pPr algn="l">
              <a:defRPr sz="1700" b="0">
                <a:solidFill>
                  <a:srgbClr val="8B9CB3"/>
                </a:solidFill>
              </a:defRPr>
            </a:pPr>
            <a:r>
              <a:t>Today, escalation only fires when the customer explicitly asks for a human.</a:t>
            </a:r>
          </a:p>
        </p:txBody>
      </p:sp>
      <p:sp>
        <p:nvSpPr>
          <p:cNvPr id="5" name="TextBox 4"/>
          <p:cNvSpPr txBox="1"/>
          <p:nvPr/>
        </p:nvSpPr>
        <p:spPr>
          <a:xfrm>
            <a:off x="731520" y="2606040"/>
            <a:ext cx="10332720" cy="1737360"/>
          </a:xfrm>
          <a:prstGeom prst="rect">
            <a:avLst/>
          </a:prstGeom>
          <a:noFill/>
        </p:spPr>
        <p:txBody>
          <a:bodyPr wrap="square">
            <a:spAutoFit/>
          </a:bodyPr>
          <a:lstStyle/>
          <a:p>
            <a:pPr algn="l">
              <a:spcAft>
                <a:spcPts val="800"/>
              </a:spcAft>
              <a:defRPr sz="1700" b="0">
                <a:solidFill>
                  <a:srgbClr val="E8EDF4"/>
                </a:solidFill>
              </a:defRPr>
            </a:pPr>
            <a:r>
              <a:t>That's reactive — it misses cases where the agent itself is stuck (repeated failed lookups, the same question rephrased twice) but the customer hasn't asked for a person yet</a:t>
            </a:r>
          </a:p>
          <a:p>
            <a:pPr>
              <a:spcAft>
                <a:spcPts val="800"/>
              </a:spcAft>
              <a:defRPr sz="1700">
                <a:solidFill>
                  <a:srgbClr val="E8EDF4"/>
                </a:solidFill>
              </a:defRPr>
            </a:pPr>
            <a:r>
              <a:t>Confidence-based escalation applies my own thesis — "never guess" — to the agent's certainty, not just to its facts</a:t>
            </a:r>
          </a:p>
        </p:txBody>
      </p:sp>
      <p:sp>
        <p:nvSpPr>
          <p:cNvPr id="6" name="TextBox 5"/>
          <p:cNvSpPr txBox="1"/>
          <p:nvPr/>
        </p:nvSpPr>
        <p:spPr>
          <a:xfrm>
            <a:off x="731520" y="4526280"/>
            <a:ext cx="10332720" cy="457200"/>
          </a:xfrm>
          <a:prstGeom prst="rect">
            <a:avLst/>
          </a:prstGeom>
          <a:noFill/>
        </p:spPr>
        <p:txBody>
          <a:bodyPr wrap="square">
            <a:spAutoFit/>
          </a:bodyPr>
          <a:lstStyle/>
          <a:p>
            <a:pPr algn="l">
              <a:defRPr sz="1500" b="1">
                <a:solidFill>
                  <a:srgbClr val="8B9CB3"/>
                </a:solidFill>
              </a:defRPr>
            </a:pPr>
            <a:r>
              <a:t>Also on the list, in order:</a:t>
            </a:r>
          </a:p>
        </p:txBody>
      </p:sp>
      <p:sp>
        <p:nvSpPr>
          <p:cNvPr id="7" name="TextBox 6"/>
          <p:cNvSpPr txBox="1"/>
          <p:nvPr/>
        </p:nvSpPr>
        <p:spPr>
          <a:xfrm>
            <a:off x="731520" y="4937760"/>
            <a:ext cx="10332720" cy="1463040"/>
          </a:xfrm>
          <a:prstGeom prst="rect">
            <a:avLst/>
          </a:prstGeom>
          <a:noFill/>
        </p:spPr>
        <p:txBody>
          <a:bodyPr wrap="square">
            <a:spAutoFit/>
          </a:bodyPr>
          <a:lstStyle/>
          <a:p>
            <a:pPr algn="l">
              <a:spcAft>
                <a:spcPts val="800"/>
              </a:spcAft>
              <a:defRPr sz="1500" b="0">
                <a:solidFill>
                  <a:srgbClr val="E8EDF4"/>
                </a:solidFill>
              </a:defRPr>
            </a:pPr>
            <a:r>
              <a:t>Real authentication (session/OTP) in place of email-match identity verification</a:t>
            </a:r>
          </a:p>
          <a:p>
            <a:pPr>
              <a:spcAft>
                <a:spcPts val="800"/>
              </a:spcAft>
              <a:defRPr sz="1500">
                <a:solidFill>
                  <a:srgbClr val="E8EDF4"/>
                </a:solidFill>
              </a:defRPr>
            </a:pPr>
            <a:r>
              <a:t>Test the actual AI conversation path, not just the deterministic rules-engine fallback</a:t>
            </a:r>
          </a:p>
          <a:p>
            <a:pPr>
              <a:spcAft>
                <a:spcPts val="800"/>
              </a:spcAft>
              <a:defRPr sz="1500">
                <a:solidFill>
                  <a:srgbClr val="E8EDF4"/>
                </a:solidFill>
              </a:defRPr>
            </a:pPr>
            <a:r>
              <a:t>Swap JSON data files for live OMS/inventory/CRM integrations behind the same tool interface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TextBox 1"/>
          <p:cNvSpPr txBox="1"/>
          <p:nvPr/>
        </p:nvSpPr>
        <p:spPr>
          <a:xfrm>
            <a:off x="731520" y="457200"/>
            <a:ext cx="10058400" cy="457200"/>
          </a:xfrm>
          <a:prstGeom prst="rect">
            <a:avLst/>
          </a:prstGeom>
          <a:noFill/>
        </p:spPr>
        <p:txBody>
          <a:bodyPr wrap="square">
            <a:spAutoFit/>
          </a:bodyPr>
          <a:lstStyle/>
          <a:p>
            <a:pPr algn="l">
              <a:defRPr sz="1400" b="1">
                <a:solidFill>
                  <a:srgbClr val="4F8CFF"/>
                </a:solidFill>
              </a:defRPr>
            </a:pPr>
            <a:r>
              <a:t>CLOSE</a:t>
            </a:r>
          </a:p>
        </p:txBody>
      </p:sp>
      <p:sp>
        <p:nvSpPr>
          <p:cNvPr id="3" name="TextBox 2"/>
          <p:cNvSpPr txBox="1"/>
          <p:nvPr/>
        </p:nvSpPr>
        <p:spPr>
          <a:xfrm>
            <a:off x="731520" y="914400"/>
            <a:ext cx="10515600" cy="1005840"/>
          </a:xfrm>
          <a:prstGeom prst="rect">
            <a:avLst/>
          </a:prstGeom>
          <a:noFill/>
        </p:spPr>
        <p:txBody>
          <a:bodyPr wrap="square">
            <a:spAutoFit/>
          </a:bodyPr>
          <a:lstStyle/>
          <a:p>
            <a:pPr algn="l">
              <a:defRPr sz="3000" b="1">
                <a:solidFill>
                  <a:srgbClr val="E8EDF4"/>
                </a:solidFill>
              </a:defRPr>
            </a:pPr>
            <a:r>
              <a:t>Never guess. Always check. Verify before anything risky.</a:t>
            </a:r>
          </a:p>
        </p:txBody>
      </p:sp>
      <p:sp>
        <p:nvSpPr>
          <p:cNvPr id="4" name="TextBox 3"/>
          <p:cNvSpPr txBox="1"/>
          <p:nvPr/>
        </p:nvSpPr>
        <p:spPr>
          <a:xfrm>
            <a:off x="731520" y="2011680"/>
            <a:ext cx="10332720" cy="2377440"/>
          </a:xfrm>
          <a:prstGeom prst="rect">
            <a:avLst/>
          </a:prstGeom>
          <a:noFill/>
        </p:spPr>
        <p:txBody>
          <a:bodyPr wrap="square">
            <a:spAutoFit/>
          </a:bodyPr>
          <a:lstStyle/>
          <a:p>
            <a:pPr algn="l">
              <a:spcAft>
                <a:spcPts val="800"/>
              </a:spcAft>
              <a:defRPr sz="1900" b="0">
                <a:solidFill>
                  <a:srgbClr val="E8EDF4"/>
                </a:solidFill>
              </a:defRPr>
            </a:pPr>
            <a:r>
              <a:t>Thesis → architecture → decisions → roadmap, all pointing at one rule</a:t>
            </a:r>
          </a:p>
          <a:p>
            <a:pPr>
              <a:spcAft>
                <a:spcPts val="800"/>
              </a:spcAft>
              <a:defRPr sz="1900">
                <a:solidFill>
                  <a:srgbClr val="E8EDF4"/>
                </a:solidFill>
              </a:defRPr>
            </a:pPr>
            <a:r>
              <a:t>Depth on core flows beats breadth across shallow ones</a:t>
            </a:r>
          </a:p>
          <a:p>
            <a:pPr>
              <a:spcAft>
                <a:spcPts val="800"/>
              </a:spcAft>
              <a:defRPr sz="1900">
                <a:solidFill>
                  <a:srgbClr val="E8EDF4"/>
                </a:solidFill>
              </a:defRPr>
            </a:pPr>
            <a:r>
              <a:t>Happy to go deeper on any single decision, or run the live demo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