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I'd rather add one turn than ship a confident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avoided all-in-one agent platforms on purpose — ~300 lines of orchestration I can explain line by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scaling intents, you need to know if the agent chooses the right action — that's what enterprise buyers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</a:defRPr>
            </a:pPr>
            <a:r>
              <a:t>BOOKLY CUSTOMER SUPPORT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EDF4"/>
                </a:solidFill>
              </a:defRPr>
            </a:pPr>
            <a:r>
              <a:t>The best CX agents don't guess —</a:t>
            </a:r>
            <a:br/>
            <a:r>
              <a:t>they clarify, then act on real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E8EDF4"/>
                </a:solidFill>
              </a:defRPr>
            </a:pPr>
            <a:r>
              <a:t>Wrong answers destroy trust faster than one extra question</a:t>
            </a:r>
          </a:p>
          <a:p>
            <a:pPr>
              <a:spcAft>
                <a:spcPts val="800"/>
              </a:spcAft>
              <a:defRPr sz="1700">
                <a:solidFill>
                  <a:srgbClr val="E8EDF4"/>
                </a:solidFill>
              </a:defRPr>
            </a:pPr>
            <a:r>
              <a:t>Human in conversation, machine-precise on facts</a:t>
            </a:r>
          </a:p>
          <a:p>
            <a:pPr>
              <a:spcAft>
                <a:spcPts val="800"/>
              </a:spcAft>
              <a:defRPr sz="1700">
                <a:solidFill>
                  <a:srgbClr val="E8EDF4"/>
                </a:solidFill>
              </a:defRPr>
            </a:pPr>
            <a:r>
              <a:t>Transactional queries always use tools — never free-form generation</a:t>
            </a:r>
          </a:p>
          <a:p>
            <a:pPr>
              <a:spcAft>
                <a:spcPts val="800"/>
              </a:spcAft>
              <a:defRPr sz="1700">
                <a:solidFill>
                  <a:srgbClr val="E8EDF4"/>
                </a:solidFill>
              </a:defRPr>
            </a:pPr>
            <a:r>
              <a:t>One focused clarifying question at a time when info is missing</a:t>
            </a:r>
          </a:p>
          <a:p>
            <a:pPr>
              <a:spcAft>
                <a:spcPts val="800"/>
              </a:spcAft>
              <a:defRPr sz="1700">
                <a:solidFill>
                  <a:srgbClr val="E8EDF4"/>
                </a:solidFill>
              </a:defRPr>
            </a:pPr>
            <a:r>
              <a:t>Tool results surfaced transparently in the demo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560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8B9CB3"/>
                </a:solidFill>
              </a:defRPr>
            </a:pPr>
            <a:r>
              <a:t>User message</a:t>
            </a:r>
            <a:br/>
            <a:r>
              <a:t>      ↓</a:t>
            </a:r>
            <a:br/>
            <a:r>
              <a:t>Have order_id?</a:t>
            </a:r>
            <a:br/>
            <a:r>
              <a:t>   ↙     ↘</a:t>
            </a:r>
            <a:br/>
            <a:r>
              <a:t> Yes      No</a:t>
            </a:r>
            <a:br/>
            <a:r>
              <a:t>  ↓        ↓</a:t>
            </a:r>
            <a:br/>
            <a:r>
              <a:t>Tool    Clarify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CB3"/>
                </a:solidFill>
              </a:defRPr>
            </a:pPr>
            <a:r>
              <a:t>Decagon Solutions Engineering Take-Home  ·  andrewwchild/booklydemo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8EDF4"/>
                </a:solidFill>
              </a:defRPr>
            </a:pPr>
            <a:r>
              <a:t>Thin orchestration + LLM reasoning + deterministic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CB3"/>
                </a:solidFill>
              </a:defRPr>
            </a:pPr>
            <a:r>
              <a:t>Chat UI  →  FastAPI /api/chat  →  BooklyAgent  →  Mock Bookly APIs</a:t>
            </a:r>
            <a:br/>
            <a:r>
              <a:t>                                      ├─ System prompt (clarify-first rules)</a:t>
            </a:r>
            <a:br/>
            <a:r>
              <a:t>                                      ├─ ConversationMemory (slots + history)</a:t>
            </a:r>
            <a:br/>
            <a:r>
              <a:t>                                      └─ OpenAI function calling (4 tools)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E8EDF4"/>
                </a:solidFill>
              </a:defRPr>
            </a:pPr>
            <a:r>
              <a:t>Orchestrator — runs LLM ↔ tool loop (up to 5 turns per message)</a:t>
            </a:r>
          </a:p>
          <a:p>
            <a:pPr>
              <a:spcAft>
                <a:spcPts val="800"/>
              </a:spcAft>
              <a:defRPr sz="1700">
                <a:solidFill>
                  <a:srgbClr val="E8EDF4"/>
                </a:solidFill>
              </a:defRPr>
            </a:pPr>
            <a:r>
              <a:t>Tools — lookup_order · initiate_refund · get_policy · send_password_reset</a:t>
            </a:r>
          </a:p>
          <a:p>
            <a:pPr>
              <a:spcAft>
                <a:spcPts val="800"/>
              </a:spcAft>
              <a:defRPr sz="1700">
                <a:solidFill>
                  <a:srgbClr val="E8EDF4"/>
                </a:solidFill>
              </a:defRPr>
            </a:pPr>
            <a:r>
              <a:t>Memory — per-session history + extracted slots (order_id, email, reason)</a:t>
            </a:r>
          </a:p>
          <a:p>
            <a:pPr>
              <a:spcAft>
                <a:spcPts val="800"/>
              </a:spcAft>
              <a:defRPr sz="1700">
                <a:solidFill>
                  <a:srgbClr val="E8EDF4"/>
                </a:solidFill>
              </a:defRPr>
            </a:pPr>
            <a:r>
              <a:t>Prompts — clarify-first rules, tone guardrails, demo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</a:defRPr>
            </a:pPr>
            <a:r>
              <a:t>KEY DECISION #1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4"/>
                </a:solidFill>
              </a:defRPr>
            </a:pPr>
            <a:r>
              <a:t>Tools over RAG for transactions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3"/>
                </a:solidFill>
              </a:defRPr>
            </a:pPr>
            <a:r>
              <a:t>Order status &amp; refunds use function calling to mock APIs — not vector 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FCF97"/>
                </a:solidFill>
              </a:defRPr>
            </a:pPr>
            <a:r>
              <a:t>Pros</a:t>
            </a:r>
          </a:p>
          <a:p>
            <a:pPr>
              <a:spcAft>
                <a:spcPts val="800"/>
              </a:spcAft>
              <a:defRPr sz="1600">
                <a:solidFill>
                  <a:srgbClr val="E8EDF4"/>
                </a:solidFill>
              </a:defRPr>
            </a:pPr>
            <a:r>
              <a:t>Zero hallucination risk on order IDs, tracking, refund amounts</a:t>
            </a:r>
          </a:p>
          <a:p>
            <a:pPr>
              <a:spcAft>
                <a:spcPts val="800"/>
              </a:spcAft>
              <a:defRPr sz="1600">
                <a:solidFill>
                  <a:srgbClr val="E8EDF4"/>
                </a:solidFill>
              </a:defRPr>
            </a:pPr>
            <a:r>
              <a:t>Actions (initiate_refund) are first-class — not instructions to the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994A"/>
                </a:solidFill>
              </a:defRPr>
            </a:pPr>
            <a:r>
              <a:t>Trade-off</a:t>
            </a:r>
          </a:p>
          <a:p>
            <a:pPr>
              <a:spcAft>
                <a:spcPts val="800"/>
              </a:spcAft>
              <a:defRPr sz="1600">
                <a:solidFill>
                  <a:srgbClr val="E8EDF4"/>
                </a:solidFill>
              </a:defRPr>
            </a:pPr>
            <a:r>
              <a:t>Each new action requires a new tool + integration</a:t>
            </a:r>
          </a:p>
          <a:p>
            <a:pPr>
              <a:spcAft>
                <a:spcPts val="800"/>
              </a:spcAft>
              <a:defRPr sz="1600">
                <a:solidFill>
                  <a:srgbClr val="E8EDF4"/>
                </a:solidFill>
              </a:defRPr>
            </a:pPr>
            <a:r>
              <a:t>More eng work than dumping everything into a knowledge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8CFF"/>
                </a:solidFill>
              </a:defRPr>
            </a:pPr>
            <a:r>
              <a:t>Why worth it: Wrong order data is a P0 incident. RAG is great for policies; transactions need systems of record.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</a:defRPr>
            </a:pPr>
            <a:r>
              <a:t>KEY DECISION #2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4"/>
                </a:solidFill>
              </a:defRPr>
            </a:pPr>
            <a:r>
              <a:t>Clarify-first + slot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CB3"/>
                </a:solidFill>
              </a:defRPr>
            </a:pPr>
            <a:r>
              <a:t>LLM handles natural language; ConversationMemory tracks required fields across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FCF97"/>
                </a:solidFill>
              </a:defRPr>
            </a:pPr>
            <a:r>
              <a:t>Pros</a:t>
            </a:r>
          </a:p>
          <a:p>
            <a:pPr>
              <a:spcAft>
                <a:spcPts val="800"/>
              </a:spcAft>
              <a:defRPr sz="1600">
                <a:solidFill>
                  <a:srgbClr val="E8EDF4"/>
                </a:solidFill>
              </a:defRPr>
            </a:pPr>
            <a:r>
              <a:t>Refund flow collects order_id → reason → email before acting</a:t>
            </a:r>
          </a:p>
          <a:p>
            <a:pPr>
              <a:spcAft>
                <a:spcPts val="800"/>
              </a:spcAft>
              <a:defRPr sz="1600">
                <a:solidFill>
                  <a:srgbClr val="E8EDF4"/>
                </a:solidFill>
              </a:defRPr>
            </a:pPr>
            <a:r>
              <a:t>Regex slot extraction catches structured inputs the LLM might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25603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2994A"/>
                </a:solidFill>
              </a:defRPr>
            </a:pPr>
            <a:r>
              <a:t>Trade-off</a:t>
            </a:r>
          </a:p>
          <a:p>
            <a:pPr>
              <a:spcAft>
                <a:spcPts val="800"/>
              </a:spcAft>
              <a:defRPr sz="1600">
                <a:solidFill>
                  <a:srgbClr val="E8EDF4"/>
                </a:solidFill>
              </a:defRPr>
            </a:pPr>
            <a:r>
              <a:t>Not a full finite-state machine</a:t>
            </a:r>
          </a:p>
          <a:p>
            <a:pPr>
              <a:spcAft>
                <a:spcPts val="800"/>
              </a:spcAft>
              <a:defRPr sz="1600">
                <a:solidFill>
                  <a:srgbClr val="E8EDF4"/>
                </a:solidFill>
              </a:defRPr>
            </a:pPr>
            <a:r>
              <a:t>Edge cases need tighter validation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F8CFF"/>
                </a:solidFill>
              </a:defRPr>
            </a:pPr>
            <a:r>
              <a:t>Demo: "I want a refund" → order ID → reason → email → initiate_refund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F8CFF"/>
                </a:solidFill>
              </a:defRPr>
            </a:pPr>
            <a:r>
              <a:t>WHAT I'D DO DIFFERENTLY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EDF4"/>
                </a:solidFill>
              </a:defRPr>
            </a:pPr>
            <a:r>
              <a:t>Eval harness + human handoff —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9CB3"/>
                </a:solidFill>
              </a:defRPr>
            </a:pPr>
            <a:r>
              <a:t>Gap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011680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B9CB3"/>
                </a:solidFill>
              </a:defRPr>
            </a:pPr>
            <a:r>
              <a:t>Production fix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70048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4"/>
                </a:solidFill>
              </a:defRPr>
            </a:pPr>
            <a:r>
              <a:t>No automated tool-selection 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2670048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4"/>
                </a:solidFill>
              </a:defRPr>
            </a:pPr>
            <a:r>
              <a:t>Golden-set evals: 50+ utterances → expected 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28416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4"/>
                </a:solidFill>
              </a:defRPr>
            </a:pPr>
            <a:r>
              <a:t>Mock JSON data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328416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4"/>
                </a:solidFill>
              </a:defRPr>
            </a:pPr>
            <a:r>
              <a:t>OMS + Stripe + Zendesk integrations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86784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4"/>
                </a:solidFill>
              </a:defRPr>
            </a:pPr>
            <a:r>
              <a:t>No escalation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986784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4"/>
                </a:solidFill>
              </a:defRPr>
            </a:pPr>
            <a:r>
              <a:t>Confidence threshold → summarize → route to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4515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4"/>
                </a:solidFill>
              </a:defRPr>
            </a:pPr>
            <a:r>
              <a:t>In-process session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645152"/>
            <a:ext cx="5669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DF4"/>
                </a:solidFill>
              </a:defRPr>
            </a:pPr>
            <a:r>
              <a:t>Redis + customer auth for cross-device continuity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8CFF"/>
                </a:solidFill>
              </a:defRPr>
            </a:pPr>
            <a:r>
              <a:t>Depth beats breadth — two flows done well beats ten done shallow.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